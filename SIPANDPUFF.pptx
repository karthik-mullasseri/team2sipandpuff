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FB336-94F3-47E7-9CC9-00DB1A0032E2}" v="364" dt="2025-12-12T11:03:22.2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36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EB1646-BA6B-446B-B293-C337B73F058A}"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E480B02B-DD12-4271-822D-A6DAC8CC4AEE}">
      <dgm:prSet/>
      <dgm:spPr/>
      <dgm:t>
        <a:bodyPr/>
        <a:lstStyle/>
        <a:p>
          <a:r>
            <a:rPr lang="en-US" b="1"/>
            <a:t>Expanded Applications:</a:t>
          </a:r>
          <a:r>
            <a:rPr lang="en-US"/>
            <a:t> The technology is expanding beyond controlling computers and wheelchairs to manage environmental control units (smart home devices) and even adjustable beds.</a:t>
          </a:r>
        </a:p>
      </dgm:t>
    </dgm:pt>
    <dgm:pt modelId="{A3B848D9-4A61-48E0-AB5D-743C77FA73A9}" type="parTrans" cxnId="{2680D053-50CB-40A8-BA41-83561B59D7AE}">
      <dgm:prSet/>
      <dgm:spPr/>
      <dgm:t>
        <a:bodyPr/>
        <a:lstStyle/>
        <a:p>
          <a:endParaRPr lang="en-US"/>
        </a:p>
      </dgm:t>
    </dgm:pt>
    <dgm:pt modelId="{9670329B-7BA5-42D0-BEA1-C172264D6D46}" type="sibTrans" cxnId="{2680D053-50CB-40A8-BA41-83561B59D7AE}">
      <dgm:prSet/>
      <dgm:spPr/>
      <dgm:t>
        <a:bodyPr/>
        <a:lstStyle/>
        <a:p>
          <a:endParaRPr lang="en-US"/>
        </a:p>
      </dgm:t>
    </dgm:pt>
    <dgm:pt modelId="{E021D57F-C5C4-4ED7-8E5E-D11B82148ACC}">
      <dgm:prSet/>
      <dgm:spPr/>
      <dgm:t>
        <a:bodyPr/>
        <a:lstStyle/>
        <a:p>
          <a:r>
            <a:rPr lang="en-US" b="1"/>
            <a:t>Wireless Connectivity:</a:t>
          </a:r>
          <a:r>
            <a:rPr lang="en-US"/>
            <a:t> Newer models, such as the QuadJoy 4, support </a:t>
          </a:r>
          <a:r>
            <a:rPr lang="en-US" b="1"/>
            <a:t>Bluetooth</a:t>
          </a:r>
          <a:r>
            <a:rPr lang="en-US"/>
            <a:t> connectivity, allowing users to control computers, tablets, and smartphones (iOS, Android) without wires.</a:t>
          </a:r>
        </a:p>
      </dgm:t>
    </dgm:pt>
    <dgm:pt modelId="{8456E2F6-A236-4546-9D4B-48076848ACA9}" type="parTrans" cxnId="{37CE73B0-C464-463F-B26E-C1FBB67F808A}">
      <dgm:prSet/>
      <dgm:spPr/>
      <dgm:t>
        <a:bodyPr/>
        <a:lstStyle/>
        <a:p>
          <a:endParaRPr lang="en-US"/>
        </a:p>
      </dgm:t>
    </dgm:pt>
    <dgm:pt modelId="{4547717C-5726-4249-B02C-D538FBA80CF5}" type="sibTrans" cxnId="{37CE73B0-C464-463F-B26E-C1FBB67F808A}">
      <dgm:prSet/>
      <dgm:spPr/>
      <dgm:t>
        <a:bodyPr/>
        <a:lstStyle/>
        <a:p>
          <a:endParaRPr lang="en-US"/>
        </a:p>
      </dgm:t>
    </dgm:pt>
    <dgm:pt modelId="{5B14A361-81C6-4733-AED8-47219A0552DB}" type="pres">
      <dgm:prSet presAssocID="{63EB1646-BA6B-446B-B293-C337B73F058A}" presName="hierChild1" presStyleCnt="0">
        <dgm:presLayoutVars>
          <dgm:chPref val="1"/>
          <dgm:dir/>
          <dgm:animOne val="branch"/>
          <dgm:animLvl val="lvl"/>
          <dgm:resizeHandles/>
        </dgm:presLayoutVars>
      </dgm:prSet>
      <dgm:spPr/>
    </dgm:pt>
    <dgm:pt modelId="{2AAE6FD5-1C3E-4C66-948B-30224CAF1FCB}" type="pres">
      <dgm:prSet presAssocID="{E480B02B-DD12-4271-822D-A6DAC8CC4AEE}" presName="hierRoot1" presStyleCnt="0"/>
      <dgm:spPr/>
    </dgm:pt>
    <dgm:pt modelId="{42CB18EA-2149-4FDD-9B3A-8D7E351E3B93}" type="pres">
      <dgm:prSet presAssocID="{E480B02B-DD12-4271-822D-A6DAC8CC4AEE}" presName="composite" presStyleCnt="0"/>
      <dgm:spPr/>
    </dgm:pt>
    <dgm:pt modelId="{B34C5C52-5422-410A-9CCD-0C3DF94B29D1}" type="pres">
      <dgm:prSet presAssocID="{E480B02B-DD12-4271-822D-A6DAC8CC4AEE}" presName="background" presStyleLbl="node0" presStyleIdx="0" presStyleCnt="2"/>
      <dgm:spPr/>
    </dgm:pt>
    <dgm:pt modelId="{A885026D-9BF5-4AFC-8EA8-B40DE38B6D0A}" type="pres">
      <dgm:prSet presAssocID="{E480B02B-DD12-4271-822D-A6DAC8CC4AEE}" presName="text" presStyleLbl="fgAcc0" presStyleIdx="0" presStyleCnt="2">
        <dgm:presLayoutVars>
          <dgm:chPref val="3"/>
        </dgm:presLayoutVars>
      </dgm:prSet>
      <dgm:spPr/>
    </dgm:pt>
    <dgm:pt modelId="{1C54126E-87C8-49C6-8ED0-B6CF79E09635}" type="pres">
      <dgm:prSet presAssocID="{E480B02B-DD12-4271-822D-A6DAC8CC4AEE}" presName="hierChild2" presStyleCnt="0"/>
      <dgm:spPr/>
    </dgm:pt>
    <dgm:pt modelId="{1498F368-B3C2-45CA-B5C0-113E660A221F}" type="pres">
      <dgm:prSet presAssocID="{E021D57F-C5C4-4ED7-8E5E-D11B82148ACC}" presName="hierRoot1" presStyleCnt="0"/>
      <dgm:spPr/>
    </dgm:pt>
    <dgm:pt modelId="{2A1E2992-5331-4F30-B325-77236DA9C07C}" type="pres">
      <dgm:prSet presAssocID="{E021D57F-C5C4-4ED7-8E5E-D11B82148ACC}" presName="composite" presStyleCnt="0"/>
      <dgm:spPr/>
    </dgm:pt>
    <dgm:pt modelId="{09E3D6F4-F8C2-4B86-83B5-2DA107AE07EB}" type="pres">
      <dgm:prSet presAssocID="{E021D57F-C5C4-4ED7-8E5E-D11B82148ACC}" presName="background" presStyleLbl="node0" presStyleIdx="1" presStyleCnt="2"/>
      <dgm:spPr/>
    </dgm:pt>
    <dgm:pt modelId="{196F8BE8-FD91-4726-92CA-FC645E15374C}" type="pres">
      <dgm:prSet presAssocID="{E021D57F-C5C4-4ED7-8E5E-D11B82148ACC}" presName="text" presStyleLbl="fgAcc0" presStyleIdx="1" presStyleCnt="2">
        <dgm:presLayoutVars>
          <dgm:chPref val="3"/>
        </dgm:presLayoutVars>
      </dgm:prSet>
      <dgm:spPr/>
    </dgm:pt>
    <dgm:pt modelId="{48DCB746-1C04-4F59-9349-FCB704F088BE}" type="pres">
      <dgm:prSet presAssocID="{E021D57F-C5C4-4ED7-8E5E-D11B82148ACC}" presName="hierChild2" presStyleCnt="0"/>
      <dgm:spPr/>
    </dgm:pt>
  </dgm:ptLst>
  <dgm:cxnLst>
    <dgm:cxn modelId="{2680D053-50CB-40A8-BA41-83561B59D7AE}" srcId="{63EB1646-BA6B-446B-B293-C337B73F058A}" destId="{E480B02B-DD12-4271-822D-A6DAC8CC4AEE}" srcOrd="0" destOrd="0" parTransId="{A3B848D9-4A61-48E0-AB5D-743C77FA73A9}" sibTransId="{9670329B-7BA5-42D0-BEA1-C172264D6D46}"/>
    <dgm:cxn modelId="{3176C076-CE0E-4A43-A497-008F83E413CB}" type="presOf" srcId="{63EB1646-BA6B-446B-B293-C337B73F058A}" destId="{5B14A361-81C6-4733-AED8-47219A0552DB}" srcOrd="0" destOrd="0" presId="urn:microsoft.com/office/officeart/2005/8/layout/hierarchy1"/>
    <dgm:cxn modelId="{37CE73B0-C464-463F-B26E-C1FBB67F808A}" srcId="{63EB1646-BA6B-446B-B293-C337B73F058A}" destId="{E021D57F-C5C4-4ED7-8E5E-D11B82148ACC}" srcOrd="1" destOrd="0" parTransId="{8456E2F6-A236-4546-9D4B-48076848ACA9}" sibTransId="{4547717C-5726-4249-B02C-D538FBA80CF5}"/>
    <dgm:cxn modelId="{ACB964C8-8C1E-47B0-9B11-E0F4A045041F}" type="presOf" srcId="{E021D57F-C5C4-4ED7-8E5E-D11B82148ACC}" destId="{196F8BE8-FD91-4726-92CA-FC645E15374C}" srcOrd="0" destOrd="0" presId="urn:microsoft.com/office/officeart/2005/8/layout/hierarchy1"/>
    <dgm:cxn modelId="{97FF20F3-0257-4370-8F00-FFFB464236B0}" type="presOf" srcId="{E480B02B-DD12-4271-822D-A6DAC8CC4AEE}" destId="{A885026D-9BF5-4AFC-8EA8-B40DE38B6D0A}" srcOrd="0" destOrd="0" presId="urn:microsoft.com/office/officeart/2005/8/layout/hierarchy1"/>
    <dgm:cxn modelId="{56A38223-1A05-4132-8FAA-FD0DCD296E2E}" type="presParOf" srcId="{5B14A361-81C6-4733-AED8-47219A0552DB}" destId="{2AAE6FD5-1C3E-4C66-948B-30224CAF1FCB}" srcOrd="0" destOrd="0" presId="urn:microsoft.com/office/officeart/2005/8/layout/hierarchy1"/>
    <dgm:cxn modelId="{48F3896E-E3A2-402C-B131-E73CEC8EFF68}" type="presParOf" srcId="{2AAE6FD5-1C3E-4C66-948B-30224CAF1FCB}" destId="{42CB18EA-2149-4FDD-9B3A-8D7E351E3B93}" srcOrd="0" destOrd="0" presId="urn:microsoft.com/office/officeart/2005/8/layout/hierarchy1"/>
    <dgm:cxn modelId="{0D642E5F-0442-44C2-B8A9-B0A29970A659}" type="presParOf" srcId="{42CB18EA-2149-4FDD-9B3A-8D7E351E3B93}" destId="{B34C5C52-5422-410A-9CCD-0C3DF94B29D1}" srcOrd="0" destOrd="0" presId="urn:microsoft.com/office/officeart/2005/8/layout/hierarchy1"/>
    <dgm:cxn modelId="{C5F99D82-EB63-4BDD-BD48-9FDB729E8A27}" type="presParOf" srcId="{42CB18EA-2149-4FDD-9B3A-8D7E351E3B93}" destId="{A885026D-9BF5-4AFC-8EA8-B40DE38B6D0A}" srcOrd="1" destOrd="0" presId="urn:microsoft.com/office/officeart/2005/8/layout/hierarchy1"/>
    <dgm:cxn modelId="{00B93A31-E188-4B3B-9D16-F89B1BEEBFE9}" type="presParOf" srcId="{2AAE6FD5-1C3E-4C66-948B-30224CAF1FCB}" destId="{1C54126E-87C8-49C6-8ED0-B6CF79E09635}" srcOrd="1" destOrd="0" presId="urn:microsoft.com/office/officeart/2005/8/layout/hierarchy1"/>
    <dgm:cxn modelId="{35B9FFE1-9C92-48EE-B1C8-31F650ECA26F}" type="presParOf" srcId="{5B14A361-81C6-4733-AED8-47219A0552DB}" destId="{1498F368-B3C2-45CA-B5C0-113E660A221F}" srcOrd="1" destOrd="0" presId="urn:microsoft.com/office/officeart/2005/8/layout/hierarchy1"/>
    <dgm:cxn modelId="{5F4AE57E-B1F2-472A-ABCA-2E1B1757C812}" type="presParOf" srcId="{1498F368-B3C2-45CA-B5C0-113E660A221F}" destId="{2A1E2992-5331-4F30-B325-77236DA9C07C}" srcOrd="0" destOrd="0" presId="urn:microsoft.com/office/officeart/2005/8/layout/hierarchy1"/>
    <dgm:cxn modelId="{85B836EB-D35E-4E58-9314-CC72A166CBEA}" type="presParOf" srcId="{2A1E2992-5331-4F30-B325-77236DA9C07C}" destId="{09E3D6F4-F8C2-4B86-83B5-2DA107AE07EB}" srcOrd="0" destOrd="0" presId="urn:microsoft.com/office/officeart/2005/8/layout/hierarchy1"/>
    <dgm:cxn modelId="{B158CB90-BAD5-4A26-927C-380BAD06A376}" type="presParOf" srcId="{2A1E2992-5331-4F30-B325-77236DA9C07C}" destId="{196F8BE8-FD91-4726-92CA-FC645E15374C}" srcOrd="1" destOrd="0" presId="urn:microsoft.com/office/officeart/2005/8/layout/hierarchy1"/>
    <dgm:cxn modelId="{ABCEB1B0-CEE5-4398-BB72-CE1FFC95EA88}" type="presParOf" srcId="{1498F368-B3C2-45CA-B5C0-113E660A221F}" destId="{48DCB746-1C04-4F59-9349-FCB704F088B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C5C52-5422-410A-9CCD-0C3DF94B29D1}">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885026D-9BF5-4AFC-8EA8-B40DE38B6D0A}">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a:t>Expanded Applications:</a:t>
          </a:r>
          <a:r>
            <a:rPr lang="en-US" sz="2500" kern="1200"/>
            <a:t> The technology is expanding beyond controlling computers and wheelchairs to manage environmental control units (smart home devices) and even adjustable beds.</a:t>
          </a:r>
        </a:p>
      </dsp:txBody>
      <dsp:txXfrm>
        <a:off x="585701" y="1066737"/>
        <a:ext cx="4337991" cy="2693452"/>
      </dsp:txXfrm>
    </dsp:sp>
    <dsp:sp modelId="{09E3D6F4-F8C2-4B86-83B5-2DA107AE07EB}">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96F8BE8-FD91-4726-92CA-FC645E15374C}">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a:t>Wireless Connectivity:</a:t>
          </a:r>
          <a:r>
            <a:rPr lang="en-US" sz="2500" kern="1200"/>
            <a:t> Newer models, such as the QuadJoy 4, support </a:t>
          </a:r>
          <a:r>
            <a:rPr lang="en-US" sz="2500" b="1" kern="1200"/>
            <a:t>Bluetooth</a:t>
          </a:r>
          <a:r>
            <a:rPr lang="en-US" sz="2500" kern="1200"/>
            <a:t> connectivity, allowing users to control computers, tablets, and smartphones (iOS, Android) without wires.</a:t>
          </a:r>
        </a:p>
      </dsp:txBody>
      <dsp:txXfrm>
        <a:off x="6092527" y="1066737"/>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199" y="1174819"/>
            <a:ext cx="4826795" cy="2858363"/>
          </a:xfrm>
        </p:spPr>
        <p:txBody>
          <a:bodyPr vert="horz" lIns="91440" tIns="45720" rIns="91440" bIns="45720" rtlCol="0" anchor="b">
            <a:noAutofit/>
          </a:bodyPr>
          <a:lstStyle/>
          <a:p>
            <a:pPr algn="l"/>
            <a:r>
              <a:rPr lang="en-US" sz="5400" b="1" dirty="0">
                <a:solidFill>
                  <a:schemeClr val="bg1"/>
                </a:solidFill>
                <a:ea typeface="+mj-lt"/>
                <a:cs typeface="+mj-lt"/>
              </a:rPr>
              <a:t>Empowering Independence: The Sip-and-Puff Device</a:t>
            </a:r>
            <a:endParaRPr lang="en-US" sz="5400" dirty="0">
              <a:solidFill>
                <a:schemeClr val="bg1"/>
              </a:solidFill>
            </a:endParaRPr>
          </a:p>
          <a:p>
            <a:pPr algn="l"/>
            <a:endParaRPr lang="en-US" sz="5000">
              <a:solidFill>
                <a:schemeClr val="bg1"/>
              </a:solidFill>
            </a:endParaRPr>
          </a:p>
        </p:txBody>
      </p:sp>
      <p:sp>
        <p:nvSpPr>
          <p:cNvPr id="3" name="Subtitle 2"/>
          <p:cNvSpPr>
            <a:spLocks noGrp="1"/>
          </p:cNvSpPr>
          <p:nvPr>
            <p:ph type="subTitle" idx="1"/>
          </p:nvPr>
        </p:nvSpPr>
        <p:spPr>
          <a:xfrm>
            <a:off x="835024" y="3949836"/>
            <a:ext cx="4830283" cy="1594507"/>
          </a:xfrm>
        </p:spPr>
        <p:txBody>
          <a:bodyPr vert="horz" lIns="91440" tIns="45720" rIns="91440" bIns="45720" rtlCol="0" anchor="t">
            <a:noAutofit/>
          </a:bodyPr>
          <a:lstStyle/>
          <a:p>
            <a:pPr algn="l"/>
            <a:r>
              <a:rPr lang="en-US" dirty="0">
                <a:solidFill>
                  <a:schemeClr val="bg1"/>
                </a:solidFill>
                <a:ea typeface="+mn-lt"/>
                <a:cs typeface="+mn-lt"/>
              </a:rPr>
              <a:t>Assistive technologies are not a luxury; they are </a:t>
            </a:r>
            <a:r>
              <a:rPr lang="en-US" b="1" dirty="0">
                <a:solidFill>
                  <a:schemeClr val="bg1"/>
                </a:solidFill>
                <a:ea typeface="+mn-lt"/>
                <a:cs typeface="+mn-lt"/>
              </a:rPr>
              <a:t>lifelines</a:t>
            </a:r>
            <a:r>
              <a:rPr lang="en-US" dirty="0">
                <a:solidFill>
                  <a:schemeClr val="bg1"/>
                </a:solidFill>
                <a:ea typeface="+mn-lt"/>
                <a:cs typeface="+mn-lt"/>
              </a:rPr>
              <a:t> that restore dignity and unlock the potential trapped by physical limitations, fundamentally improving not just a 'quality of life' metric, but the </a:t>
            </a:r>
            <a:r>
              <a:rPr lang="en-US" b="1" dirty="0">
                <a:solidFill>
                  <a:schemeClr val="bg1"/>
                </a:solidFill>
                <a:ea typeface="+mn-lt"/>
                <a:cs typeface="+mn-lt"/>
              </a:rPr>
              <a:t>human experience of independence.</a:t>
            </a:r>
            <a:endParaRPr lang="en-US">
              <a:solidFill>
                <a:schemeClr val="bg1"/>
              </a:solidFill>
            </a:endParaRPr>
          </a:p>
          <a:p>
            <a:pPr algn="l"/>
            <a:endParaRPr lang="en-US" sz="1800" dirty="0">
              <a:solidFill>
                <a:schemeClr val="bg1"/>
              </a:solidFill>
            </a:endParaRPr>
          </a:p>
        </p:txBody>
      </p:sp>
      <p:pic>
        <p:nvPicPr>
          <p:cNvPr id="4" name="Picture 3">
            <a:extLst>
              <a:ext uri="{FF2B5EF4-FFF2-40B4-BE49-F238E27FC236}">
                <a16:creationId xmlns:a16="http://schemas.microsoft.com/office/drawing/2014/main" id="{0AE07A95-A20D-9BCC-A429-FF080F558E2A}"/>
              </a:ext>
            </a:extLst>
          </p:cNvPr>
          <p:cNvPicPr>
            <a:picLocks noChangeAspect="1"/>
          </p:cNvPicPr>
          <p:nvPr/>
        </p:nvPicPr>
        <p:blipFill>
          <a:blip r:embed="rId2"/>
          <a:srcRect l="29172" r="9920" b="-2"/>
          <a:stretch>
            <a:fillRect/>
          </a:stretch>
        </p:blipFill>
        <p:spPr>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effectLst>
            <a:outerShdw blurRad="381000" dist="152400" dir="5400000" algn="t" rotWithShape="0">
              <a:prstClr val="black">
                <a:alpha val="10000"/>
              </a:prstClr>
            </a:outerShdw>
          </a:effectLst>
        </p:spPr>
      </p:pic>
      <p:sp>
        <p:nvSpPr>
          <p:cNvPr id="11" name="Freeform: Shape 10">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63F594-A447-17D1-1CF7-A027AA9AA984}"/>
              </a:ext>
            </a:extLst>
          </p:cNvPr>
          <p:cNvSpPr>
            <a:spLocks noGrp="1"/>
          </p:cNvSpPr>
          <p:nvPr>
            <p:ph type="title"/>
          </p:nvPr>
        </p:nvSpPr>
        <p:spPr>
          <a:xfrm>
            <a:off x="838201" y="365125"/>
            <a:ext cx="5251316" cy="1807305"/>
          </a:xfrm>
        </p:spPr>
        <p:txBody>
          <a:bodyPr>
            <a:normAutofit/>
          </a:bodyPr>
          <a:lstStyle/>
          <a:p>
            <a:r>
              <a:rPr lang="en-US" b="1" dirty="0">
                <a:ea typeface="+mj-lt"/>
                <a:cs typeface="+mj-lt"/>
              </a:rPr>
              <a:t>Problem Statement</a:t>
            </a:r>
            <a:endParaRPr lang="en-US" b="1" dirty="0"/>
          </a:p>
        </p:txBody>
      </p:sp>
      <p:sp>
        <p:nvSpPr>
          <p:cNvPr id="3" name="Content Placeholder 2">
            <a:extLst>
              <a:ext uri="{FF2B5EF4-FFF2-40B4-BE49-F238E27FC236}">
                <a16:creationId xmlns:a16="http://schemas.microsoft.com/office/drawing/2014/main" id="{2A36D468-2FCD-72CD-DDE5-6467DDA18B64}"/>
              </a:ext>
            </a:extLst>
          </p:cNvPr>
          <p:cNvSpPr>
            <a:spLocks noGrp="1"/>
          </p:cNvSpPr>
          <p:nvPr>
            <p:ph idx="1"/>
          </p:nvPr>
        </p:nvSpPr>
        <p:spPr>
          <a:xfrm>
            <a:off x="244289" y="1716974"/>
            <a:ext cx="6446179" cy="4482401"/>
          </a:xfrm>
        </p:spPr>
        <p:txBody>
          <a:bodyPr vert="horz" lIns="91440" tIns="45720" rIns="91440" bIns="45720" rtlCol="0" anchor="t">
            <a:noAutofit/>
          </a:bodyPr>
          <a:lstStyle/>
          <a:p>
            <a:pPr marL="0" indent="0">
              <a:buNone/>
            </a:pPr>
            <a:r>
              <a:rPr lang="en-US" sz="2000" dirty="0">
                <a:ea typeface="+mn-lt"/>
                <a:cs typeface="+mn-lt"/>
              </a:rPr>
              <a:t>     People with severe upper-body mobility limitations often struggle with basic digital actions like clicking, typing, or steadying a hand that most people take for granted.</a:t>
            </a:r>
          </a:p>
          <a:p>
            <a:pPr marL="0" indent="0">
              <a:buNone/>
            </a:pPr>
            <a:r>
              <a:rPr lang="en-US" sz="2000" dirty="0">
                <a:ea typeface="+mn-lt"/>
                <a:cs typeface="+mn-lt"/>
              </a:rPr>
              <a:t>      When illness or accidents remove abilities once felt natural, the impact is both physical and deeply emotional. Technology that once offered freedom can begin to feel out of reach, limiting opportunities to learn, work, connect, and express oneself. In a world that relies heavily on digital interaction, this lack of access can lead to isolation and dependence. </a:t>
            </a:r>
            <a:endParaRPr lang="en-US" sz="2000">
              <a:ea typeface="+mn-lt"/>
              <a:cs typeface="+mn-lt"/>
            </a:endParaRPr>
          </a:p>
          <a:p>
            <a:pPr marL="0" indent="0">
              <a:buNone/>
            </a:pPr>
            <a:r>
              <a:rPr lang="en-US" sz="2000" dirty="0">
                <a:ea typeface="+mn-lt"/>
                <a:cs typeface="+mn-lt"/>
              </a:rPr>
              <a:t>      It also creates challenges in maintaining privacy and security, since relying on others for digital tasks can expose personal information and reduce one’s control over sensitive data.</a:t>
            </a:r>
            <a:endParaRPr lang="en-US" sz="2000"/>
          </a:p>
        </p:txBody>
      </p:sp>
      <p:pic>
        <p:nvPicPr>
          <p:cNvPr id="4" name="Picture 3">
            <a:extLst>
              <a:ext uri="{FF2B5EF4-FFF2-40B4-BE49-F238E27FC236}">
                <a16:creationId xmlns:a16="http://schemas.microsoft.com/office/drawing/2014/main" id="{C9F255BD-40D6-CA4A-FB87-608EE28CBD22}"/>
              </a:ext>
            </a:extLst>
          </p:cNvPr>
          <p:cNvPicPr>
            <a:picLocks noChangeAspect="1"/>
          </p:cNvPicPr>
          <p:nvPr/>
        </p:nvPicPr>
        <p:blipFill>
          <a:blip r:embed="rId2"/>
          <a:srcRect l="7074" r="5980"/>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432412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AB21C5-C331-FA0B-67C0-D4AA3255BDFC}"/>
              </a:ext>
            </a:extLst>
          </p:cNvPr>
          <p:cNvSpPr>
            <a:spLocks noGrp="1"/>
          </p:cNvSpPr>
          <p:nvPr>
            <p:ph type="title"/>
          </p:nvPr>
        </p:nvSpPr>
        <p:spPr>
          <a:xfrm>
            <a:off x="1115568" y="548640"/>
            <a:ext cx="10168128" cy="1179576"/>
          </a:xfrm>
        </p:spPr>
        <p:txBody>
          <a:bodyPr>
            <a:normAutofit/>
          </a:bodyPr>
          <a:lstStyle/>
          <a:p>
            <a:r>
              <a:rPr lang="en-US" sz="4000"/>
              <a:t>Objective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EFD013D-BB93-D581-E540-419D7B7CE83F}"/>
              </a:ext>
            </a:extLst>
          </p:cNvPr>
          <p:cNvSpPr>
            <a:spLocks noGrp="1"/>
          </p:cNvSpPr>
          <p:nvPr>
            <p:ph idx="1"/>
          </p:nvPr>
        </p:nvSpPr>
        <p:spPr>
          <a:xfrm>
            <a:off x="722661" y="2029505"/>
            <a:ext cx="10834878" cy="3695020"/>
          </a:xfrm>
        </p:spPr>
        <p:txBody>
          <a:bodyPr vert="horz" lIns="91440" tIns="45720" rIns="91440" bIns="45720" rtlCol="0" anchor="t">
            <a:noAutofit/>
          </a:bodyPr>
          <a:lstStyle/>
          <a:p>
            <a:r>
              <a:rPr lang="en-US" sz="2400" b="1" dirty="0">
                <a:ea typeface="+mn-lt"/>
                <a:cs typeface="+mn-lt"/>
              </a:rPr>
              <a:t>Provide Hands-Free Cursor Control:</a:t>
            </a:r>
            <a:r>
              <a:rPr lang="en-US" sz="2400" dirty="0">
                <a:ea typeface="+mn-lt"/>
                <a:cs typeface="+mn-lt"/>
              </a:rPr>
              <a:t> Offer a specialized human-computer interface for hands-free cursor control.</a:t>
            </a:r>
          </a:p>
          <a:p>
            <a:r>
              <a:rPr lang="en-US" sz="2400" b="1" dirty="0">
                <a:ea typeface="+mn-lt"/>
                <a:cs typeface="+mn-lt"/>
              </a:rPr>
              <a:t>Maintain Digital Independence:</a:t>
            </a:r>
            <a:r>
              <a:rPr lang="en-US" sz="2400" dirty="0">
                <a:ea typeface="+mn-lt"/>
                <a:cs typeface="+mn-lt"/>
              </a:rPr>
              <a:t> Crucial for maintaining digital independence and accessibility for individuals with severe motor impairments.</a:t>
            </a:r>
          </a:p>
          <a:p>
            <a:r>
              <a:rPr lang="en-US" sz="2400" b="1" dirty="0">
                <a:ea typeface="+mn-lt"/>
                <a:cs typeface="+mn-lt"/>
              </a:rPr>
              <a:t>Solve the Digital Access Problem:</a:t>
            </a:r>
            <a:r>
              <a:rPr lang="en-US" sz="2400" dirty="0">
                <a:ea typeface="+mn-lt"/>
                <a:cs typeface="+mn-lt"/>
              </a:rPr>
              <a:t> Effectively bypass the need for manual dexterity to solve the problem of digital access for individuals with severe physical disabilities. </a:t>
            </a:r>
          </a:p>
          <a:p>
            <a:r>
              <a:rPr lang="en-US" sz="2400" b="1" dirty="0">
                <a:ea typeface="+mn-lt"/>
                <a:cs typeface="+mn-lt"/>
              </a:rPr>
              <a:t>Translate Respiratory Commands:</a:t>
            </a:r>
            <a:r>
              <a:rPr lang="en-US" sz="2400" dirty="0">
                <a:ea typeface="+mn-lt"/>
                <a:cs typeface="+mn-lt"/>
              </a:rPr>
              <a:t> Translate the user's respiratory commands (sip/puff) into cursor movements and mouse clicks.</a:t>
            </a:r>
          </a:p>
          <a:p>
            <a:r>
              <a:rPr lang="en-US" sz="2400" b="1" dirty="0">
                <a:ea typeface="+mn-lt"/>
                <a:cs typeface="+mn-lt"/>
              </a:rPr>
              <a:t>Facilitate Full Participation:</a:t>
            </a:r>
            <a:r>
              <a:rPr lang="en-US" sz="2400" dirty="0">
                <a:ea typeface="+mn-lt"/>
                <a:cs typeface="+mn-lt"/>
              </a:rPr>
              <a:t> Facilitate full participation in the digital sphere, overcoming limitations to engaging in professional work, education, and communication.</a:t>
            </a:r>
            <a:endParaRPr lang="en-US" sz="2400" dirty="0"/>
          </a:p>
        </p:txBody>
      </p:sp>
    </p:spTree>
    <p:extLst>
      <p:ext uri="{BB962C8B-B14F-4D97-AF65-F5344CB8AC3E}">
        <p14:creationId xmlns:p14="http://schemas.microsoft.com/office/powerpoint/2010/main" val="1658255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4EDF38-3E21-AE98-9CE0-AD36706A7A39}"/>
              </a:ext>
            </a:extLst>
          </p:cNvPr>
          <p:cNvSpPr>
            <a:spLocks noGrp="1"/>
          </p:cNvSpPr>
          <p:nvPr>
            <p:ph type="title"/>
          </p:nvPr>
        </p:nvSpPr>
        <p:spPr>
          <a:xfrm>
            <a:off x="429592" y="254690"/>
            <a:ext cx="5251316" cy="1807305"/>
          </a:xfrm>
        </p:spPr>
        <p:txBody>
          <a:bodyPr>
            <a:normAutofit/>
          </a:bodyPr>
          <a:lstStyle/>
          <a:p>
            <a:r>
              <a:rPr lang="en-US" dirty="0">
                <a:ea typeface="+mj-lt"/>
                <a:cs typeface="+mj-lt"/>
              </a:rPr>
              <a:t>TECHNICAL OVERVIEW</a:t>
            </a:r>
            <a:endParaRPr lang="en-US" dirty="0"/>
          </a:p>
        </p:txBody>
      </p:sp>
      <p:sp>
        <p:nvSpPr>
          <p:cNvPr id="3" name="Content Placeholder 2">
            <a:extLst>
              <a:ext uri="{FF2B5EF4-FFF2-40B4-BE49-F238E27FC236}">
                <a16:creationId xmlns:a16="http://schemas.microsoft.com/office/drawing/2014/main" id="{DE5D7833-37A0-0637-AFC7-CEFAEE8F329C}"/>
              </a:ext>
            </a:extLst>
          </p:cNvPr>
          <p:cNvSpPr>
            <a:spLocks noGrp="1"/>
          </p:cNvSpPr>
          <p:nvPr>
            <p:ph idx="1"/>
          </p:nvPr>
        </p:nvSpPr>
        <p:spPr>
          <a:xfrm>
            <a:off x="308113" y="1880515"/>
            <a:ext cx="6320316" cy="4462100"/>
          </a:xfrm>
        </p:spPr>
        <p:txBody>
          <a:bodyPr vert="horz" lIns="91440" tIns="45720" rIns="91440" bIns="45720" rtlCol="0" anchor="t">
            <a:noAutofit/>
          </a:bodyPr>
          <a:lstStyle/>
          <a:p>
            <a:pPr marL="0" indent="0">
              <a:buNone/>
            </a:pPr>
            <a:r>
              <a:rPr lang="en-US" sz="1800" dirty="0">
                <a:ea typeface="+mn-lt"/>
                <a:cs typeface="+mn-lt"/>
              </a:rPr>
              <a:t>The core functionality relies on three main components</a:t>
            </a:r>
            <a:endParaRPr lang="en-US" sz="1800"/>
          </a:p>
          <a:p>
            <a:pPr>
              <a:buNone/>
            </a:pPr>
            <a:r>
              <a:rPr lang="en-US" sz="1800" b="1" dirty="0">
                <a:highlight>
                  <a:srgbClr val="FFFFFF"/>
                </a:highlight>
              </a:rPr>
              <a:t>*Air Pressure</a:t>
            </a:r>
            <a:r>
              <a:rPr lang="en-US" sz="1800" b="1" dirty="0">
                <a:highlight>
                  <a:srgbClr val="FFFFFF"/>
                </a:highlight>
                <a:ea typeface="+mn-lt"/>
                <a:cs typeface="+mn-lt"/>
              </a:rPr>
              <a:t> Sensor </a:t>
            </a:r>
            <a:r>
              <a:rPr lang="en-US" sz="1800" dirty="0">
                <a:ea typeface="+mn-lt"/>
                <a:cs typeface="+mn-lt"/>
              </a:rPr>
              <a:t>:This is the core component that detects the applied pressure.</a:t>
            </a:r>
            <a:endParaRPr lang="en-US" sz="1800"/>
          </a:p>
          <a:p>
            <a:pPr marL="0" indent="0">
              <a:buNone/>
            </a:pPr>
            <a:r>
              <a:rPr lang="en-US" sz="1800" dirty="0">
                <a:ea typeface="+mn-lt"/>
                <a:cs typeface="+mn-lt"/>
              </a:rPr>
              <a:t>            It registers </a:t>
            </a:r>
            <a:r>
              <a:rPr lang="en-US" sz="1800" b="1" dirty="0">
                <a:ea typeface="+mn-lt"/>
                <a:cs typeface="+mn-lt"/>
              </a:rPr>
              <a:t>positive pressure</a:t>
            </a:r>
            <a:r>
              <a:rPr lang="en-US" sz="1800" dirty="0">
                <a:ea typeface="+mn-lt"/>
                <a:cs typeface="+mn-lt"/>
              </a:rPr>
              <a:t> for a "puff".</a:t>
            </a:r>
          </a:p>
          <a:p>
            <a:pPr marL="0" indent="0">
              <a:buNone/>
            </a:pPr>
            <a:r>
              <a:rPr lang="en-US" sz="1800" dirty="0">
                <a:ea typeface="+mn-lt"/>
                <a:cs typeface="+mn-lt"/>
              </a:rPr>
              <a:t>            It registers </a:t>
            </a:r>
            <a:r>
              <a:rPr lang="en-US" sz="1800" b="1" dirty="0">
                <a:ea typeface="+mn-lt"/>
                <a:cs typeface="+mn-lt"/>
              </a:rPr>
              <a:t>negative pressure</a:t>
            </a:r>
            <a:r>
              <a:rPr lang="en-US" sz="1800" dirty="0">
                <a:ea typeface="+mn-lt"/>
                <a:cs typeface="+mn-lt"/>
              </a:rPr>
              <a:t> for a "sip".</a:t>
            </a:r>
          </a:p>
          <a:p>
            <a:pPr marL="0" indent="0">
              <a:buNone/>
            </a:pPr>
            <a:r>
              <a:rPr lang="en-US" sz="1800" dirty="0">
                <a:ea typeface="+mn-lt"/>
                <a:cs typeface="+mn-lt"/>
              </a:rPr>
              <a:t>         The detected pressure is then converted into an </a:t>
            </a:r>
            <a:r>
              <a:rPr lang="en-US" sz="1800" b="1" dirty="0">
                <a:ea typeface="+mn-lt"/>
                <a:cs typeface="+mn-lt"/>
              </a:rPr>
              <a:t>electrical signal</a:t>
            </a:r>
            <a:r>
              <a:rPr lang="en-US" sz="1800" dirty="0">
                <a:ea typeface="+mn-lt"/>
                <a:cs typeface="+mn-lt"/>
              </a:rPr>
              <a:t>.</a:t>
            </a:r>
          </a:p>
          <a:p>
            <a:pPr marL="0" indent="0">
              <a:buNone/>
            </a:pPr>
            <a:r>
              <a:rPr lang="en-US" sz="1800" b="1" dirty="0">
                <a:ea typeface="+mn-lt"/>
                <a:cs typeface="+mn-lt"/>
              </a:rPr>
              <a:t>*Joystick </a:t>
            </a:r>
            <a:r>
              <a:rPr lang="en-US" sz="1800" b="1" err="1">
                <a:ea typeface="+mn-lt"/>
                <a:cs typeface="+mn-lt"/>
              </a:rPr>
              <a:t>module</a:t>
            </a:r>
            <a:r>
              <a:rPr lang="en-US" sz="1800" err="1">
                <a:ea typeface="+mn-lt"/>
                <a:cs typeface="+mn-lt"/>
              </a:rPr>
              <a:t>:controlling</a:t>
            </a:r>
            <a:r>
              <a:rPr lang="en-US" sz="1800" dirty="0">
                <a:ea typeface="+mn-lt"/>
                <a:cs typeface="+mn-lt"/>
              </a:rPr>
              <a:t> cursor movement in assistive technology</a:t>
            </a:r>
            <a:endParaRPr lang="en-US" sz="1800"/>
          </a:p>
          <a:p>
            <a:pPr marL="0" indent="0">
              <a:buNone/>
            </a:pPr>
            <a:r>
              <a:rPr lang="en-US" sz="1800" b="1" dirty="0">
                <a:ea typeface="+mn-lt"/>
                <a:cs typeface="+mn-lt"/>
              </a:rPr>
              <a:t>*Controller/</a:t>
            </a:r>
            <a:r>
              <a:rPr lang="en-US" sz="1800" b="1" err="1">
                <a:ea typeface="+mn-lt"/>
                <a:cs typeface="+mn-lt"/>
              </a:rPr>
              <a:t>Microprocessor</a:t>
            </a:r>
            <a:r>
              <a:rPr lang="en-US" sz="1800" err="1">
                <a:ea typeface="+mn-lt"/>
                <a:cs typeface="+mn-lt"/>
              </a:rPr>
              <a:t>:This</a:t>
            </a:r>
            <a:r>
              <a:rPr lang="en-US" sz="1800" dirty="0">
                <a:ea typeface="+mn-lt"/>
                <a:cs typeface="+mn-lt"/>
              </a:rPr>
              <a:t> component interprets the electrical  signal received from the sensor</a:t>
            </a:r>
          </a:p>
          <a:p>
            <a:pPr marL="0" indent="0">
              <a:buNone/>
            </a:pPr>
            <a:r>
              <a:rPr lang="en-US" sz="1800" dirty="0">
                <a:ea typeface="+mn-lt"/>
                <a:cs typeface="+mn-lt"/>
              </a:rPr>
              <a:t>It </a:t>
            </a:r>
            <a:r>
              <a:rPr lang="en-US" sz="1800" b="1" dirty="0">
                <a:ea typeface="+mn-lt"/>
                <a:cs typeface="+mn-lt"/>
              </a:rPr>
              <a:t>maps</a:t>
            </a:r>
            <a:r>
              <a:rPr lang="en-US" sz="1800" dirty="0">
                <a:ea typeface="+mn-lt"/>
                <a:cs typeface="+mn-lt"/>
              </a:rPr>
              <a:t> the signal to specific mouse functions, such as cursor movement or clicking.</a:t>
            </a:r>
            <a:endParaRPr lang="en-US" sz="1800"/>
          </a:p>
        </p:txBody>
      </p:sp>
      <p:pic>
        <p:nvPicPr>
          <p:cNvPr id="4" name="Picture 3">
            <a:extLst>
              <a:ext uri="{FF2B5EF4-FFF2-40B4-BE49-F238E27FC236}">
                <a16:creationId xmlns:a16="http://schemas.microsoft.com/office/drawing/2014/main" id="{AB5A19E9-8CCC-392E-FCF0-E300ACE0B8B8}"/>
              </a:ext>
            </a:extLst>
          </p:cNvPr>
          <p:cNvPicPr>
            <a:picLocks noChangeAspect="1"/>
          </p:cNvPicPr>
          <p:nvPr/>
        </p:nvPicPr>
        <p:blipFill>
          <a:blip r:embed="rId2"/>
          <a:srcRect t="7523" b="6217"/>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64076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Background Fill">
            <a:extLst>
              <a:ext uri="{FF2B5EF4-FFF2-40B4-BE49-F238E27FC236}">
                <a16:creationId xmlns:a16="http://schemas.microsoft.com/office/drawing/2014/main" id="{3C915414-2809-4735-A560-0D5FE6670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382"/>
            <a:ext cx="12188952" cy="6858000"/>
          </a:xfrm>
          <a:prstGeom prst="rect">
            <a:avLst/>
          </a:prstGeom>
          <a:solidFill>
            <a:schemeClr val="bg1">
              <a:lumMod val="9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id">
            <a:extLst>
              <a:ext uri="{FF2B5EF4-FFF2-40B4-BE49-F238E27FC236}">
                <a16:creationId xmlns:a16="http://schemas.microsoft.com/office/drawing/2014/main" id="{24413201-85BF-4680-A7D4-10CDBD0356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38471" cy="6858000"/>
            <a:chOff x="0" y="-12406"/>
            <a:chExt cx="12038471" cy="6858000"/>
          </a:xfrm>
        </p:grpSpPr>
        <p:cxnSp>
          <p:nvCxnSpPr>
            <p:cNvPr id="14" name="Straight Connector 13">
              <a:extLst>
                <a:ext uri="{FF2B5EF4-FFF2-40B4-BE49-F238E27FC236}">
                  <a16:creationId xmlns:a16="http://schemas.microsoft.com/office/drawing/2014/main" id="{1F819D8C-C8E5-4336-9882-79FBF65551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0"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7D732480-09E4-401A-B2D9-E6C662FBCA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719781"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87D8355C-E417-4D36-91FF-2CC1E1FE9F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672683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6ADF7267-EAAE-43CE-ACEF-608328FB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25"/>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54C901E2-0CDB-4316-B262-3B9E68F335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729498"/>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D8F6D31A-084C-4F10-9A8F-A9645DFB71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60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E38E09F0-F130-45B5-B0AF-7EF3F0172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684395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569330E2-17DA-4F0D-B377-6E4499C79A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5131209"/>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A3192707-5744-4C77-8CD6-D682F90800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20892"/>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E367A44A-5DD0-43B5-B6DB-1CA3BC5AF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3422784"/>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280809D1-164B-4A0C-84BB-2AC46F3BDE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1832198"/>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E379EC94-3698-4695-8CE7-61DBDF5EE6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3538773"/>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8755B95C-6A71-4D4F-8F48-B21F893E6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0" y="5240042"/>
              <a:ext cx="12038471" cy="0"/>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6099C53A-E394-462E-BF63-1639A8E283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828837"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AC427FF-C3BE-45A0-9FB1-A6A4C8C4CD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439563"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2B15D91A-BF52-4704-8F6B-A7C4746181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59344"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1D9241FD-0E0D-409B-A2AF-8F06ACB757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79125"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F8B3D884-11F6-4FF3-82C2-1C2311451C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59890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A15AB342-981A-44B4-846D-B0B2394ACF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038471"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872C80E7-0A00-4063-BEE2-6B6B446A4A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318688" y="-25"/>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4" name="Straight Connector 33">
              <a:extLst>
                <a:ext uri="{FF2B5EF4-FFF2-40B4-BE49-F238E27FC236}">
                  <a16:creationId xmlns:a16="http://schemas.microsoft.com/office/drawing/2014/main" id="{CDDFAF9B-F940-4E8C-905E-31851E6E7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549263"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DE75405B-4987-4ED0-838B-B550E11C50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72269" y="1609"/>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2D23C412-06C7-4364-B5C1-6492A9D36B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990113"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3E558B2C-BA31-4EF6-AA51-34C38C4FAC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1578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8" name="Straight Connector 37">
              <a:extLst>
                <a:ext uri="{FF2B5EF4-FFF2-40B4-BE49-F238E27FC236}">
                  <a16:creationId xmlns:a16="http://schemas.microsoft.com/office/drawing/2014/main" id="{49BF6B7B-33CA-48B1-A1DC-E4917FB89D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435730"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9" name="Straight Connector 38">
              <a:extLst>
                <a:ext uri="{FF2B5EF4-FFF2-40B4-BE49-F238E27FC236}">
                  <a16:creationId xmlns:a16="http://schemas.microsoft.com/office/drawing/2014/main" id="{B91E8E40-9C42-4E16-980F-D9B38872F3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4293" y="-5330"/>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6B7E3690-D803-4CC7-BA93-B51ACF040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4177" y="-12406"/>
              <a:ext cx="0" cy="6843985"/>
            </a:xfrm>
            <a:prstGeom prst="line">
              <a:avLst/>
            </a:prstGeom>
            <a:ln w="19050">
              <a:solidFill>
                <a:schemeClr val="bg1"/>
              </a:solidFill>
            </a:ln>
          </p:spPr>
          <p:style>
            <a:lnRef idx="1">
              <a:schemeClr val="accent2"/>
            </a:lnRef>
            <a:fillRef idx="0">
              <a:schemeClr val="accent2"/>
            </a:fillRef>
            <a:effectRef idx="0">
              <a:schemeClr val="accent2"/>
            </a:effectRef>
            <a:fontRef idx="minor">
              <a:schemeClr val="tx1"/>
            </a:fontRef>
          </p:style>
        </p:cxnSp>
      </p:grpSp>
      <p:pic>
        <p:nvPicPr>
          <p:cNvPr id="6" name="Content Placeholder 5">
            <a:extLst>
              <a:ext uri="{FF2B5EF4-FFF2-40B4-BE49-F238E27FC236}">
                <a16:creationId xmlns:a16="http://schemas.microsoft.com/office/drawing/2014/main" id="{DCDBDB07-0C33-7EE3-D23E-43FAE0417F9D}"/>
              </a:ext>
            </a:extLst>
          </p:cNvPr>
          <p:cNvPicPr>
            <a:picLocks noGrp="1" noChangeAspect="1"/>
          </p:cNvPicPr>
          <p:nvPr>
            <p:ph idx="1"/>
          </p:nvPr>
        </p:nvPicPr>
        <p:blipFill>
          <a:blip r:embed="rId2"/>
          <a:srcRect t="8181" r="-1" b="18672"/>
          <a:stretch>
            <a:fillRect/>
          </a:stretch>
        </p:blipFill>
        <p:spPr>
          <a:xfrm>
            <a:off x="134874" y="830039"/>
            <a:ext cx="11218927" cy="5169915"/>
          </a:xfrm>
          <a:prstGeom prst="rect">
            <a:avLst/>
          </a:prstGeom>
        </p:spPr>
      </p:pic>
      <p:sp>
        <p:nvSpPr>
          <p:cNvPr id="42" name="Color">
            <a:extLst>
              <a:ext uri="{FF2B5EF4-FFF2-40B4-BE49-F238E27FC236}">
                <a16:creationId xmlns:a16="http://schemas.microsoft.com/office/drawing/2014/main" id="{D665D759-2DF8-4D47-8386-4BA28901A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7704" y="147451"/>
            <a:ext cx="685800" cy="6586489"/>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Tree>
    <p:extLst>
      <p:ext uri="{BB962C8B-B14F-4D97-AF65-F5344CB8AC3E}">
        <p14:creationId xmlns:p14="http://schemas.microsoft.com/office/powerpoint/2010/main" val="964772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4A493-CC50-15CC-BCB6-1BB5B5A60D51}"/>
              </a:ext>
            </a:extLst>
          </p:cNvPr>
          <p:cNvSpPr>
            <a:spLocks noGrp="1"/>
          </p:cNvSpPr>
          <p:nvPr>
            <p:ph type="title"/>
          </p:nvPr>
        </p:nvSpPr>
        <p:spPr>
          <a:xfrm>
            <a:off x="838200" y="800993"/>
            <a:ext cx="3687491" cy="1594189"/>
          </a:xfrm>
        </p:spPr>
        <p:txBody>
          <a:bodyPr anchor="t">
            <a:normAutofit/>
          </a:bodyPr>
          <a:lstStyle/>
          <a:p>
            <a:r>
              <a:rPr lang="en-US" sz="3200">
                <a:ea typeface="+mj-lt"/>
                <a:cs typeface="+mj-lt"/>
              </a:rPr>
              <a:t>System Architecture / Block Diagram</a:t>
            </a:r>
            <a:endParaRPr lang="en-US" sz="3200"/>
          </a:p>
        </p:txBody>
      </p:sp>
      <p:pic>
        <p:nvPicPr>
          <p:cNvPr id="4" name="Content Placeholder 3">
            <a:extLst>
              <a:ext uri="{FF2B5EF4-FFF2-40B4-BE49-F238E27FC236}">
                <a16:creationId xmlns:a16="http://schemas.microsoft.com/office/drawing/2014/main" id="{CAE84CE0-36E0-433E-8E26-E8CA5B4C7621}"/>
              </a:ext>
            </a:extLst>
          </p:cNvPr>
          <p:cNvPicPr>
            <a:picLocks noChangeAspect="1"/>
          </p:cNvPicPr>
          <p:nvPr/>
        </p:nvPicPr>
        <p:blipFill>
          <a:blip r:embed="rId2"/>
          <a:srcRect l="405"/>
          <a:stretch>
            <a:fillRect/>
          </a:stretch>
        </p:blipFill>
        <p:spPr>
          <a:xfrm>
            <a:off x="-2" y="2111480"/>
            <a:ext cx="12192002" cy="4702346"/>
          </a:xfrm>
          <a:prstGeom prst="rect">
            <a:avLst/>
          </a:prstGeom>
        </p:spPr>
      </p:pic>
      <p:grpSp>
        <p:nvGrpSpPr>
          <p:cNvPr id="11" name="Group 10">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7970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41771D-CAC0-68FE-0BFB-715BD3A8139C}"/>
              </a:ext>
            </a:extLst>
          </p:cNvPr>
          <p:cNvSpPr>
            <a:spLocks noGrp="1"/>
          </p:cNvSpPr>
          <p:nvPr>
            <p:ph type="title"/>
          </p:nvPr>
        </p:nvSpPr>
        <p:spPr>
          <a:xfrm>
            <a:off x="838200" y="1641752"/>
            <a:ext cx="4391025" cy="1323439"/>
          </a:xfrm>
        </p:spPr>
        <p:txBody>
          <a:bodyPr vert="horz" lIns="91440" tIns="45720" rIns="91440" bIns="45720" rtlCol="0" anchor="t">
            <a:normAutofit/>
          </a:bodyPr>
          <a:lstStyle/>
          <a:p>
            <a:r>
              <a:rPr lang="en-US" sz="4000" kern="1200">
                <a:solidFill>
                  <a:schemeClr val="bg1"/>
                </a:solidFill>
                <a:latin typeface="+mj-lt"/>
                <a:ea typeface="+mj-ea"/>
                <a:cs typeface="+mj-cs"/>
              </a:rPr>
              <a:t>The future of this technology</a:t>
            </a:r>
          </a:p>
        </p:txBody>
      </p:sp>
      <p:sp>
        <p:nvSpPr>
          <p:cNvPr id="6" name="TextBox 5">
            <a:extLst>
              <a:ext uri="{FF2B5EF4-FFF2-40B4-BE49-F238E27FC236}">
                <a16:creationId xmlns:a16="http://schemas.microsoft.com/office/drawing/2014/main" id="{EFAE887F-CFDF-D833-AAD9-F923BB7253BF}"/>
              </a:ext>
            </a:extLst>
          </p:cNvPr>
          <p:cNvSpPr txBox="1"/>
          <p:nvPr/>
        </p:nvSpPr>
        <p:spPr>
          <a:xfrm>
            <a:off x="838200" y="3146400"/>
            <a:ext cx="4391025" cy="245430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400" b="1" dirty="0">
                <a:solidFill>
                  <a:schemeClr val="bg1">
                    <a:alpha val="80000"/>
                  </a:schemeClr>
                </a:solidFill>
              </a:rPr>
              <a:t>The new 3D printed design is for comfortable and convenient use.</a:t>
            </a:r>
            <a:endParaRPr lang="en-US" sz="2400" dirty="0">
              <a:solidFill>
                <a:schemeClr val="bg1">
                  <a:alpha val="80000"/>
                </a:schemeClr>
              </a:solidFill>
            </a:endParaRPr>
          </a:p>
          <a:p>
            <a:pPr indent="-228600">
              <a:lnSpc>
                <a:spcPct val="90000"/>
              </a:lnSpc>
              <a:spcAft>
                <a:spcPts val="600"/>
              </a:spcAft>
              <a:buFont typeface="Arial" panose="020B0604020202020204" pitchFamily="34" charset="0"/>
              <a:buChar char="•"/>
            </a:pPr>
            <a:endParaRPr lang="en-US" sz="2400">
              <a:solidFill>
                <a:schemeClr val="bg1">
                  <a:alpha val="80000"/>
                </a:schemeClr>
              </a:solidFill>
            </a:endParaRPr>
          </a:p>
        </p:txBody>
      </p:sp>
      <p:pic>
        <p:nvPicPr>
          <p:cNvPr id="4" name="Content Placeholder 3">
            <a:extLst>
              <a:ext uri="{FF2B5EF4-FFF2-40B4-BE49-F238E27FC236}">
                <a16:creationId xmlns:a16="http://schemas.microsoft.com/office/drawing/2014/main" id="{F70096EF-319C-2C8E-465D-E2C8FE55828A}"/>
              </a:ext>
            </a:extLst>
          </p:cNvPr>
          <p:cNvPicPr>
            <a:picLocks noGrp="1" noChangeAspect="1"/>
          </p:cNvPicPr>
          <p:nvPr>
            <p:ph idx="1"/>
          </p:nvPr>
        </p:nvPicPr>
        <p:blipFill>
          <a:blip r:embed="rId2"/>
          <a:stretch>
            <a:fillRect/>
          </a:stretch>
        </p:blipFill>
        <p:spPr>
          <a:xfrm>
            <a:off x="5753651" y="1434629"/>
            <a:ext cx="5967758" cy="4435633"/>
          </a:xfrm>
          <a:prstGeom prst="rect">
            <a:avLst/>
          </a:prstGeom>
        </p:spPr>
      </p:pic>
    </p:spTree>
    <p:extLst>
      <p:ext uri="{BB962C8B-B14F-4D97-AF65-F5344CB8AC3E}">
        <p14:creationId xmlns:p14="http://schemas.microsoft.com/office/powerpoint/2010/main" val="2533741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22AE90-9308-1286-D435-8C0D8D2F0E2A}"/>
              </a:ext>
            </a:extLst>
          </p:cNvPr>
          <p:cNvPicPr>
            <a:picLocks noChangeAspect="1"/>
          </p:cNvPicPr>
          <p:nvPr/>
        </p:nvPicPr>
        <p:blipFill>
          <a:blip r:embed="rId2">
            <a:duotone>
              <a:schemeClr val="bg2">
                <a:shade val="45000"/>
                <a:satMod val="135000"/>
              </a:schemeClr>
              <a:prstClr val="white"/>
            </a:duotone>
          </a:blip>
          <a:srcRect t="13754" r="9085" b="951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342AD0-D675-2D0B-A296-B9697897EAB5}"/>
              </a:ext>
            </a:extLst>
          </p:cNvPr>
          <p:cNvSpPr>
            <a:spLocks noGrp="1"/>
          </p:cNvSpPr>
          <p:nvPr>
            <p:ph type="title"/>
          </p:nvPr>
        </p:nvSpPr>
        <p:spPr>
          <a:xfrm>
            <a:off x="838200" y="365125"/>
            <a:ext cx="10515600" cy="1325563"/>
          </a:xfrm>
        </p:spPr>
        <p:txBody>
          <a:bodyPr>
            <a:normAutofit/>
          </a:bodyPr>
          <a:lstStyle/>
          <a:p>
            <a:r>
              <a:rPr lang="en-US" dirty="0">
                <a:ea typeface="+mj-lt"/>
                <a:cs typeface="+mj-lt"/>
              </a:rPr>
              <a:t>Upcoming updates</a:t>
            </a:r>
            <a:endParaRPr lang="en-US" dirty="0"/>
          </a:p>
        </p:txBody>
      </p:sp>
      <p:graphicFrame>
        <p:nvGraphicFramePr>
          <p:cNvPr id="5" name="Content Placeholder 2">
            <a:extLst>
              <a:ext uri="{FF2B5EF4-FFF2-40B4-BE49-F238E27FC236}">
                <a16:creationId xmlns:a16="http://schemas.microsoft.com/office/drawing/2014/main" id="{BED8F438-564B-5554-9B3D-7EC688F429BB}"/>
              </a:ext>
            </a:extLst>
          </p:cNvPr>
          <p:cNvGraphicFramePr>
            <a:graphicFrameLocks noGrp="1"/>
          </p:cNvGraphicFramePr>
          <p:nvPr>
            <p:ph idx="1"/>
            <p:extLst>
              <p:ext uri="{D42A27DB-BD31-4B8C-83A1-F6EECF244321}">
                <p14:modId xmlns:p14="http://schemas.microsoft.com/office/powerpoint/2010/main" val="532849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57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35969F-4756-9E72-1595-6EB53B198042}"/>
              </a:ext>
            </a:extLst>
          </p:cNvPr>
          <p:cNvSpPr>
            <a:spLocks noGrp="1"/>
          </p:cNvSpPr>
          <p:nvPr>
            <p:ph type="title"/>
          </p:nvPr>
        </p:nvSpPr>
        <p:spPr>
          <a:xfrm>
            <a:off x="640080" y="325369"/>
            <a:ext cx="4368602" cy="1956841"/>
          </a:xfrm>
        </p:spPr>
        <p:txBody>
          <a:bodyPr anchor="b">
            <a:normAutofit/>
          </a:bodyPr>
          <a:lstStyle/>
          <a:p>
            <a:r>
              <a:rPr lang="en-US" sz="5400"/>
              <a:t>CONCLUSION</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089F05-2A7B-B12C-0F95-F3368D70078E}"/>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000">
                <a:ea typeface="+mn-lt"/>
                <a:cs typeface="+mn-lt"/>
              </a:rPr>
              <a:t>The SIP and Puff (SNP) mouse is an indispensable assistive technology that effectively solves the problem of digital access for individuals with severe physical disabilities.</a:t>
            </a:r>
          </a:p>
          <a:p>
            <a:r>
              <a:rPr lang="en-US" sz="2000">
                <a:ea typeface="+mn-lt"/>
                <a:cs typeface="+mn-lt"/>
              </a:rPr>
              <a:t>It translates respiratory commands (sips and puffs) into cursor movements and mouse clicks, empowering users to regain autonomy in the digital sphere. </a:t>
            </a:r>
            <a:endParaRPr lang="en-US" sz="2000"/>
          </a:p>
        </p:txBody>
      </p:sp>
      <p:pic>
        <p:nvPicPr>
          <p:cNvPr id="4" name="Picture 3">
            <a:extLst>
              <a:ext uri="{FF2B5EF4-FFF2-40B4-BE49-F238E27FC236}">
                <a16:creationId xmlns:a16="http://schemas.microsoft.com/office/drawing/2014/main" id="{D7D325F4-DF59-BCD6-6D30-11CB4FD93C71}"/>
              </a:ext>
            </a:extLst>
          </p:cNvPr>
          <p:cNvPicPr>
            <a:picLocks noChangeAspect="1"/>
          </p:cNvPicPr>
          <p:nvPr/>
        </p:nvPicPr>
        <p:blipFill>
          <a:blip r:embed="rId2"/>
          <a:srcRect t="13266" r="-1" b="11959"/>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240454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0F497-0B1F-6DAA-86D4-8668EDACB1E6}"/>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08D2148A-535C-60D0-858F-DB8C4233F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84379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523</Words>
  <Application>Microsoft Office PowerPoint</Application>
  <PresentationFormat>Widescreen</PresentationFormat>
  <Paragraphs>31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Empowering Independence: The Sip-and-Puff Device </vt:lpstr>
      <vt:lpstr>Problem Statement</vt:lpstr>
      <vt:lpstr>Objective</vt:lpstr>
      <vt:lpstr>TECHNICAL OVERVIEW</vt:lpstr>
      <vt:lpstr>PowerPoint Presentation</vt:lpstr>
      <vt:lpstr>System Architecture / Block Diagram</vt:lpstr>
      <vt:lpstr>The future of this technology</vt:lpstr>
      <vt:lpstr>Upcoming updates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Empowering Independence: The Sip-and-Puff Device </dc:title>
  <dc:creator/>
  <cp:lastModifiedBy>KARTHIK M K</cp:lastModifiedBy>
  <cp:revision>177</cp:revision>
  <dcterms:created xsi:type="dcterms:W3CDTF">2025-12-12T05:47:24Z</dcterms:created>
  <dcterms:modified xsi:type="dcterms:W3CDTF">2025-12-12T11:04:46Z</dcterms:modified>
</cp:coreProperties>
</file>